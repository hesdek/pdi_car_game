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62" r:id="rId4"/>
    <p:sldId id="269" r:id="rId5"/>
    <p:sldId id="259" r:id="rId6"/>
    <p:sldId id="261" r:id="rId7"/>
    <p:sldId id="263" r:id="rId8"/>
    <p:sldId id="264" r:id="rId9"/>
    <p:sldId id="270" r:id="rId10"/>
    <p:sldId id="266" r:id="rId11"/>
    <p:sldId id="268" r:id="rId12"/>
  </p:sldIdLst>
  <p:sldSz cx="9144000" cy="6858000" type="screen4x3"/>
  <p:notesSz cx="7102475" cy="102330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73" d="100"/>
          <a:sy n="73" d="100"/>
        </p:scale>
        <p:origin x="12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16" name="Google Shape;4;n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17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18" name="Google Shape;6;n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19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20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s-CO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458007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5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1987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02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3" name="Google Shape;99;p2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2335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37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38" name="Google Shape;145;p6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896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xmlns="" id="{455B1A23-9A25-2C83-1441-B5585B095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Google Shape;106;p3:notes">
            <a:extLst>
              <a:ext uri="{FF2B5EF4-FFF2-40B4-BE49-F238E27FC236}">
                <a16:creationId xmlns:a16="http://schemas.microsoft.com/office/drawing/2014/main" xmlns="" id="{C3E7F1B8-69F2-CBAA-2A21-4F7BC66853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10" name="Google Shape;107;p3:notes">
            <a:extLst>
              <a:ext uri="{FF2B5EF4-FFF2-40B4-BE49-F238E27FC236}">
                <a16:creationId xmlns:a16="http://schemas.microsoft.com/office/drawing/2014/main" xmlns="" id="{4B44F2DC-B8F7-0AE4-F3CD-313C6157FF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11" name="Google Shape;108;p3:notes">
            <a:extLst>
              <a:ext uri="{FF2B5EF4-FFF2-40B4-BE49-F238E27FC236}">
                <a16:creationId xmlns:a16="http://schemas.microsoft.com/office/drawing/2014/main" xmlns="" id="{F57D5E78-0A58-2DD3-E2CB-16776A7459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0058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10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11" name="Google Shape;108;p3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2532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26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27" name="Google Shape;129;p5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4597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167;g1e7f6e5453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41" name="Google Shape;168;g1e7f6e54539_1_0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2" name="Google Shape;169;g1e7f6e54539_1_0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8051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50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1" name="Google Shape;175;p7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6862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xmlns="" id="{487E7134-C2C7-E9EA-FA78-B444509B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Google Shape;188;p8:notes">
            <a:extLst>
              <a:ext uri="{FF2B5EF4-FFF2-40B4-BE49-F238E27FC236}">
                <a16:creationId xmlns:a16="http://schemas.microsoft.com/office/drawing/2014/main" xmlns="" id="{606AE9F7-E6D3-11DA-1654-F747D0761C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57" name="Google Shape;189;p8:notes">
            <a:extLst>
              <a:ext uri="{FF2B5EF4-FFF2-40B4-BE49-F238E27FC236}">
                <a16:creationId xmlns:a16="http://schemas.microsoft.com/office/drawing/2014/main" xmlns="" id="{5FBDB71A-471F-CEE2-7E58-E9B6ABABC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8" name="Google Shape;190;p8:notes">
            <a:extLst>
              <a:ext uri="{FF2B5EF4-FFF2-40B4-BE49-F238E27FC236}">
                <a16:creationId xmlns:a16="http://schemas.microsoft.com/office/drawing/2014/main" xmlns="" id="{3CD781A2-7F90-6AD3-03F3-2FD5FBC72F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825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8663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7892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8666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2622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82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83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84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85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  <p:cxnSp>
        <p:nvCxnSpPr>
          <p:cNvPr id="3145728" name="Google Shape;21;p12"/>
          <p:cNvCxnSpPr>
            <a:cxnSpLocks/>
          </p:cNvCxnSpPr>
          <p:nvPr/>
        </p:nvCxnSpPr>
        <p:spPr>
          <a:xfrm>
            <a:off x="539552" y="6237312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45729" name="Google Shape;22;p12"/>
          <p:cNvCxnSpPr>
            <a:cxnSpLocks/>
          </p:cNvCxnSpPr>
          <p:nvPr/>
        </p:nvCxnSpPr>
        <p:spPr>
          <a:xfrm>
            <a:off x="539552" y="980728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2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93" name="Google Shape;2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94" name="Google Shape;2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95" name="Google Shape;2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96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  <p:cxnSp>
        <p:nvCxnSpPr>
          <p:cNvPr id="3145730" name="Google Shape;29;p13"/>
          <p:cNvCxnSpPr>
            <a:cxnSpLocks/>
          </p:cNvCxnSpPr>
          <p:nvPr/>
        </p:nvCxnSpPr>
        <p:spPr>
          <a:xfrm>
            <a:off x="467544" y="1484784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45731" name="Google Shape;30;p13"/>
          <p:cNvCxnSpPr>
            <a:cxnSpLocks/>
          </p:cNvCxnSpPr>
          <p:nvPr/>
        </p:nvCxnSpPr>
        <p:spPr>
          <a:xfrm>
            <a:off x="467544" y="6237312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Google Shape;32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688" name="Google Shape;33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89" name="Google Shape;34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90" name="Google Shape;35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91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Google Shape;38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693" name="Google Shape;39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94" name="Google Shape;40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95" name="Google Shape;4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96" name="Google Shape;4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97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Google Shape;4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699" name="Google Shape;46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00" name="Google Shape;47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01" name="Google Shape;48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02" name="Google Shape;49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03" name="Google Shape;5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04" name="Google Shape;5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05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Google Shape;5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668" name="Google Shape;5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9" name="Google Shape;5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70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Google Shape;5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07" name="Google Shape;6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08" name="Google Shape;6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Google Shape;63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710" name="Google Shape;64;p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11" name="Google Shape;65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12" name="Google Shape;6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13" name="Google Shape;6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14" name="Google Shape;6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Google Shape;70;p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677" name="Google Shape;71;p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678" name="Google Shape;72;p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79" name="Google Shape;73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80" name="Google Shape;74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81" name="Google Shape;75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Google Shape;77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683" name="Google Shape;78;p2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84" name="Google Shape;79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85" name="Google Shape;80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86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Google Shape;83;p2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672" name="Google Shape;84;p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73" name="Google Shape;8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74" name="Google Shape;8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75" name="Google Shape;8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8577" name="Google Shape;11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8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9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80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myloview.com.br/poster-cmyk-color-palette-vector-template-cmyk-logo-template-service-no-150A9ACE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reepik.es/vector-premium/icono-plano-redes-neuronales-signo-color-coleccion-aprendizaje-automatico-ilustracion-icono-redes-neuronales-creativas-infografias-diseno-web-mas_31578620.htm" TargetMode="External"/><Relationship Id="rId5" Type="http://schemas.openxmlformats.org/officeDocument/2006/relationships/image" Target="../media/image2.jpg"/><Relationship Id="rId10" Type="http://schemas.openxmlformats.org/officeDocument/2006/relationships/hyperlink" Target="https://www.researchgate.net/figure/Figura-4-Producto-de-la-funcion-de-filtrado-por-la-imagen-ambos-en-el-dominio-de-la_fig1_39195331" TargetMode="External"/><Relationship Id="rId4" Type="http://schemas.openxmlformats.org/officeDocument/2006/relationships/hyperlink" Target="https://www.flaticon.es/icono-gratis/histograma_2709742" TargetMode="Externa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nkeymotorbikes.com/insta360-x3-para-moto/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s://www.autobild.es/noticias/toyota-tacoma-2016-incluira-una-gopro-integrada-serie-261311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93;p1"/>
          <p:cNvSpPr txBox="1">
            <a:spLocks noGrp="1"/>
          </p:cNvSpPr>
          <p:nvPr>
            <p:ph type="ctrTitle"/>
          </p:nvPr>
        </p:nvSpPr>
        <p:spPr>
          <a:xfrm>
            <a:off x="737828" y="980728"/>
            <a:ext cx="7772400" cy="1296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4000"/>
            </a:pPr>
            <a:r>
              <a:rPr lang="es-CO" sz="3600" dirty="0"/>
              <a:t>Detección y Clasificación de Señales de Tránsito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7" name="Google Shape;94;p1"/>
          <p:cNvSpPr txBox="1">
            <a:spLocks noGrp="1"/>
          </p:cNvSpPr>
          <p:nvPr>
            <p:ph type="subTitle" idx="1"/>
          </p:nvPr>
        </p:nvSpPr>
        <p:spPr>
          <a:xfrm>
            <a:off x="971600" y="2492896"/>
            <a:ext cx="7304856" cy="2232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FACULTAD DE INGENIERÍA</a:t>
            </a:r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UNIVERSIDAD DE ANTIOQUIA</a:t>
            </a:r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Departamento de Electrónica y Telecomunicaciones</a:t>
            </a:r>
            <a:endParaRPr sz="217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1" dirty="0">
                <a:solidFill>
                  <a:srgbClr val="0000FF"/>
                </a:solidFill>
              </a:rPr>
              <a:t>Planteamiento del problema a resolver y su ruta de solución</a:t>
            </a:r>
            <a:endParaRPr sz="2170" b="1" dirty="0">
              <a:solidFill>
                <a:srgbClr val="0000FF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endParaRPr sz="2170" b="1" dirty="0">
              <a:solidFill>
                <a:srgbClr val="0000FF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Semestre 2025-</a:t>
            </a:r>
            <a:r>
              <a:rPr lang="es-CO" sz="2170" dirty="0"/>
              <a:t>2</a:t>
            </a:r>
            <a:endParaRPr sz="217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rgbClr val="888888"/>
              </a:buClr>
              <a:buSzPts val="2480"/>
              <a:buFont typeface="Arial"/>
              <a:buNone/>
            </a:pPr>
            <a:endParaRPr sz="248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8" name="Google Shape;95;p1"/>
          <p:cNvSpPr txBox="1"/>
          <p:nvPr/>
        </p:nvSpPr>
        <p:spPr>
          <a:xfrm>
            <a:off x="1115616" y="4941168"/>
            <a:ext cx="6984776" cy="144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r>
              <a:rPr lang="it-IT" sz="23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Daniel Pérez Gallego – Daniel.perez19@udea.edu.co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r>
              <a:rPr lang="it-IT" sz="2300" dirty="0">
                <a:solidFill>
                  <a:srgbClr val="888888"/>
                </a:solidFill>
                <a:latin typeface="Calibri"/>
                <a:cs typeface="Calibri"/>
                <a:sym typeface="Calibri"/>
              </a:rPr>
              <a:t>John Edisson Chamorro – John.chamorro@udea.edu.co</a:t>
            </a:r>
            <a:endParaRPr lang="it-IT"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101;p2"/>
          <p:cNvSpPr txBox="1"/>
          <p:nvPr/>
        </p:nvSpPr>
        <p:spPr>
          <a:xfrm>
            <a:off x="609600" y="4270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Problema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98" name="Google Shape;102;p2"/>
          <p:cNvSpPr txBox="1"/>
          <p:nvPr/>
        </p:nvSpPr>
        <p:spPr>
          <a:xfrm>
            <a:off x="1079395" y="2060848"/>
            <a:ext cx="729000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800" b="1" dirty="0">
                <a:latin typeface="Calibri" panose="020F0502020204030204" pitchFamily="34" charset="0"/>
                <a:cs typeface="Calibri" panose="020F0502020204030204" pitchFamily="34" charset="0"/>
              </a:rPr>
              <a:t>Problema humano: </a:t>
            </a:r>
            <a:r>
              <a:rPr lang="es-CO" sz="1800" dirty="0">
                <a:latin typeface="Calibri" panose="020F0502020204030204" pitchFamily="34" charset="0"/>
                <a:cs typeface="Calibri" panose="020F0502020204030204" pitchFamily="34" charset="0"/>
              </a:rPr>
              <a:t>Aumentar la seguridad vial mediante la automatización del reconocimiento de señales de tránsito.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800" b="1" dirty="0">
                <a:latin typeface="Calibri" panose="020F0502020204030204" pitchFamily="34" charset="0"/>
                <a:cs typeface="Calibri" panose="020F0502020204030204" pitchFamily="34" charset="0"/>
              </a:rPr>
              <a:t>Problema técnico</a:t>
            </a:r>
            <a:r>
              <a:rPr lang="es-CO" sz="1800" dirty="0">
                <a:latin typeface="Calibri" panose="020F0502020204030204" pitchFamily="34" charset="0"/>
                <a:cs typeface="Calibri" panose="020F0502020204030204" pitchFamily="34" charset="0"/>
              </a:rPr>
              <a:t>: Implementar un modelo computacional capaz de detectar y clasificar señales de tránsito en tiempo real.</a:t>
            </a: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Título de las tres referencias de antecedentes en trabajos similares que se ha hecho hasta ahora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s-CO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0150" lvl="2" indent="-285750"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s-ES" sz="1600" b="1" dirty="0">
                <a:latin typeface="Calibri" panose="020F0502020204030204" pitchFamily="34" charset="0"/>
                <a:cs typeface="Calibri" panose="020F0502020204030204" pitchFamily="34" charset="0"/>
              </a:rPr>
              <a:t>Martínez et al. (2020)</a:t>
            </a: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Reconocimiento de señales de tránsito colombianas mediante redes convolucionales profundas.</a:t>
            </a:r>
            <a:endParaRPr sz="16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00150" lvl="2" indent="-285750"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Larsson &amp;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Felsberg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(2011)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Using Feature Descriptors for Traffic Sign Recognition.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sz="18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Google Shape;147;p6"/>
          <p:cNvSpPr txBox="1"/>
          <p:nvPr/>
        </p:nvSpPr>
        <p:spPr>
          <a:xfrm>
            <a:off x="395536" y="33265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Solución: Conceptos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29" name="Google Shape;148;p6"/>
          <p:cNvSpPr/>
          <p:nvPr/>
        </p:nvSpPr>
        <p:spPr>
          <a:xfrm>
            <a:off x="651499" y="2528737"/>
            <a:ext cx="1478399" cy="648037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Preprocesado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30" name="Google Shape;149;p6"/>
          <p:cNvSpPr/>
          <p:nvPr/>
        </p:nvSpPr>
        <p:spPr>
          <a:xfrm>
            <a:off x="651499" y="3740872"/>
            <a:ext cx="1478400" cy="45720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Segmentado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32" name="Google Shape;151;p6"/>
          <p:cNvSpPr/>
          <p:nvPr/>
        </p:nvSpPr>
        <p:spPr>
          <a:xfrm>
            <a:off x="710600" y="4571482"/>
            <a:ext cx="1360200" cy="45720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Clasificación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33" name="Google Shape;152;p6"/>
          <p:cNvSpPr/>
          <p:nvPr/>
        </p:nvSpPr>
        <p:spPr>
          <a:xfrm>
            <a:off x="710600" y="5448787"/>
            <a:ext cx="1360200" cy="45720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35" name="Google Shape;154;p6"/>
          <p:cNvSpPr/>
          <p:nvPr/>
        </p:nvSpPr>
        <p:spPr>
          <a:xfrm>
            <a:off x="710600" y="1728637"/>
            <a:ext cx="1360200" cy="45720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Captura de la Imagen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5736" name="Google Shape;155;p6"/>
          <p:cNvCxnSpPr>
            <a:cxnSpLocks/>
            <a:stCxn id="1048635" idx="2"/>
            <a:endCxn id="1048629" idx="0"/>
          </p:cNvCxnSpPr>
          <p:nvPr/>
        </p:nvCxnSpPr>
        <p:spPr>
          <a:xfrm flipH="1">
            <a:off x="1390699" y="2185837"/>
            <a:ext cx="1" cy="34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45737" name="Google Shape;156;p6"/>
          <p:cNvCxnSpPr>
            <a:cxnSpLocks/>
            <a:stCxn id="1048629" idx="2"/>
            <a:endCxn id="1048630" idx="0"/>
          </p:cNvCxnSpPr>
          <p:nvPr/>
        </p:nvCxnSpPr>
        <p:spPr>
          <a:xfrm>
            <a:off x="1390699" y="3176774"/>
            <a:ext cx="0" cy="56409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45738" name="Google Shape;157;p6"/>
          <p:cNvCxnSpPr>
            <a:cxnSpLocks/>
            <a:stCxn id="1048630" idx="2"/>
            <a:endCxn id="1048632" idx="0"/>
          </p:cNvCxnSpPr>
          <p:nvPr/>
        </p:nvCxnSpPr>
        <p:spPr>
          <a:xfrm>
            <a:off x="1390699" y="4198072"/>
            <a:ext cx="1" cy="37341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45740" name="Google Shape;159;p6"/>
          <p:cNvCxnSpPr>
            <a:cxnSpLocks/>
            <a:stCxn id="1048632" idx="2"/>
            <a:endCxn id="1048633" idx="0"/>
          </p:cNvCxnSpPr>
          <p:nvPr/>
        </p:nvCxnSpPr>
        <p:spPr>
          <a:xfrm>
            <a:off x="1390700" y="5028682"/>
            <a:ext cx="0" cy="42010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45742" name="Google Shape;161;p6"/>
          <p:cNvCxnSpPr>
            <a:cxnSpLocks/>
            <a:stCxn id="1048629" idx="3"/>
            <a:endCxn id="16" idx="1"/>
          </p:cNvCxnSpPr>
          <p:nvPr/>
        </p:nvCxnSpPr>
        <p:spPr>
          <a:xfrm flipV="1">
            <a:off x="2129898" y="2846558"/>
            <a:ext cx="323255" cy="619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45743" name="Google Shape;162;p6"/>
          <p:cNvCxnSpPr>
            <a:cxnSpLocks/>
            <a:stCxn id="1048630" idx="3"/>
            <a:endCxn id="1048638" idx="1"/>
          </p:cNvCxnSpPr>
          <p:nvPr/>
        </p:nvCxnSpPr>
        <p:spPr>
          <a:xfrm>
            <a:off x="2129899" y="3969472"/>
            <a:ext cx="31389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45746" name="Google Shape;165;p6"/>
          <p:cNvCxnSpPr>
            <a:cxnSpLocks/>
            <a:stCxn id="1048633" idx="3"/>
            <a:endCxn id="3145761" idx="1"/>
          </p:cNvCxnSpPr>
          <p:nvPr/>
        </p:nvCxnSpPr>
        <p:spPr>
          <a:xfrm>
            <a:off x="2070800" y="5677387"/>
            <a:ext cx="43532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" name="Google Shape;154;p6">
            <a:extLst>
              <a:ext uri="{FF2B5EF4-FFF2-40B4-BE49-F238E27FC236}">
                <a16:creationId xmlns:a16="http://schemas.microsoft.com/office/drawing/2014/main" xmlns="" id="{33224687-FA35-827F-F351-F372DCB838CD}"/>
              </a:ext>
            </a:extLst>
          </p:cNvPr>
          <p:cNvSpPr/>
          <p:nvPr/>
        </p:nvSpPr>
        <p:spPr>
          <a:xfrm>
            <a:off x="2443792" y="1722811"/>
            <a:ext cx="1360200" cy="457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Cámara de celular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" name="Google Shape;155;p6">
            <a:extLst>
              <a:ext uri="{FF2B5EF4-FFF2-40B4-BE49-F238E27FC236}">
                <a16:creationId xmlns:a16="http://schemas.microsoft.com/office/drawing/2014/main" xmlns="" id="{1C4F8564-51CA-3128-6FA8-CF92C4B27209}"/>
              </a:ext>
            </a:extLst>
          </p:cNvPr>
          <p:cNvCxnSpPr>
            <a:cxnSpLocks/>
            <a:stCxn id="1048635" idx="3"/>
            <a:endCxn id="2" idx="1"/>
          </p:cNvCxnSpPr>
          <p:nvPr/>
        </p:nvCxnSpPr>
        <p:spPr>
          <a:xfrm flipV="1">
            <a:off x="2070800" y="1951411"/>
            <a:ext cx="372992" cy="582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Google Shape;154;p6">
            <a:extLst>
              <a:ext uri="{FF2B5EF4-FFF2-40B4-BE49-F238E27FC236}">
                <a16:creationId xmlns:a16="http://schemas.microsoft.com/office/drawing/2014/main" xmlns="" id="{B7275E0A-9E38-9B3D-8735-1D3799F56D5C}"/>
              </a:ext>
            </a:extLst>
          </p:cNvPr>
          <p:cNvSpPr/>
          <p:nvPr/>
        </p:nvSpPr>
        <p:spPr>
          <a:xfrm>
            <a:off x="2453153" y="2485845"/>
            <a:ext cx="1584167" cy="721425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Conversión a escala de grises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154;p6">
            <a:extLst>
              <a:ext uri="{FF2B5EF4-FFF2-40B4-BE49-F238E27FC236}">
                <a16:creationId xmlns:a16="http://schemas.microsoft.com/office/drawing/2014/main" xmlns="" id="{83ACE128-3BEF-DDC7-54E5-FC2A42B8646B}"/>
              </a:ext>
            </a:extLst>
          </p:cNvPr>
          <p:cNvSpPr/>
          <p:nvPr/>
        </p:nvSpPr>
        <p:spPr>
          <a:xfrm>
            <a:off x="4330599" y="2578431"/>
            <a:ext cx="1360200" cy="536089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Reducción de ruido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08" name="Google Shape;154;p6">
            <a:extLst>
              <a:ext uri="{FF2B5EF4-FFF2-40B4-BE49-F238E27FC236}">
                <a16:creationId xmlns:a16="http://schemas.microsoft.com/office/drawing/2014/main" xmlns="" id="{1DCB16D2-D6B7-1FF2-3E28-5EE364C5B23C}"/>
              </a:ext>
            </a:extLst>
          </p:cNvPr>
          <p:cNvSpPr/>
          <p:nvPr/>
        </p:nvSpPr>
        <p:spPr>
          <a:xfrm>
            <a:off x="5914766" y="2578431"/>
            <a:ext cx="1360200" cy="536089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Ajuste de contrastes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8615" name="Google Shape;161;p6">
            <a:extLst>
              <a:ext uri="{FF2B5EF4-FFF2-40B4-BE49-F238E27FC236}">
                <a16:creationId xmlns:a16="http://schemas.microsoft.com/office/drawing/2014/main" xmlns="" id="{AE28B640-612F-0445-E77B-398D53507921}"/>
              </a:ext>
            </a:extLst>
          </p:cNvPr>
          <p:cNvCxnSpPr>
            <a:cxnSpLocks/>
            <a:stCxn id="16" idx="3"/>
            <a:endCxn id="31" idx="1"/>
          </p:cNvCxnSpPr>
          <p:nvPr/>
        </p:nvCxnSpPr>
        <p:spPr>
          <a:xfrm flipV="1">
            <a:off x="4037320" y="2846476"/>
            <a:ext cx="293279" cy="8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48618" name="Google Shape;161;p6">
            <a:extLst>
              <a:ext uri="{FF2B5EF4-FFF2-40B4-BE49-F238E27FC236}">
                <a16:creationId xmlns:a16="http://schemas.microsoft.com/office/drawing/2014/main" xmlns="" id="{F8BF95D7-364C-2DDB-B2AD-B7406EF8D972}"/>
              </a:ext>
            </a:extLst>
          </p:cNvPr>
          <p:cNvCxnSpPr>
            <a:cxnSpLocks/>
            <a:stCxn id="31" idx="3"/>
            <a:endCxn id="1048608" idx="1"/>
          </p:cNvCxnSpPr>
          <p:nvPr/>
        </p:nvCxnSpPr>
        <p:spPr>
          <a:xfrm>
            <a:off x="5690799" y="2846476"/>
            <a:ext cx="22396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48637" name="Google Shape;154;p6">
            <a:extLst>
              <a:ext uri="{FF2B5EF4-FFF2-40B4-BE49-F238E27FC236}">
                <a16:creationId xmlns:a16="http://schemas.microsoft.com/office/drawing/2014/main" xmlns="" id="{43C85D79-124E-8E41-332D-A34C66C876ED}"/>
              </a:ext>
            </a:extLst>
          </p:cNvPr>
          <p:cNvSpPr/>
          <p:nvPr/>
        </p:nvSpPr>
        <p:spPr>
          <a:xfrm>
            <a:off x="4227118" y="3695173"/>
            <a:ext cx="1360200" cy="536089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Regiones por color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38" name="Google Shape;154;p6">
            <a:extLst>
              <a:ext uri="{FF2B5EF4-FFF2-40B4-BE49-F238E27FC236}">
                <a16:creationId xmlns:a16="http://schemas.microsoft.com/office/drawing/2014/main" xmlns="" id="{3C39A0F9-2B2B-B0E6-9531-C378127890B4}"/>
              </a:ext>
            </a:extLst>
          </p:cNvPr>
          <p:cNvSpPr/>
          <p:nvPr/>
        </p:nvSpPr>
        <p:spPr>
          <a:xfrm>
            <a:off x="2443792" y="3701427"/>
            <a:ext cx="1360200" cy="536089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Detección de bordes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39" name="Google Shape;154;p6">
            <a:extLst>
              <a:ext uri="{FF2B5EF4-FFF2-40B4-BE49-F238E27FC236}">
                <a16:creationId xmlns:a16="http://schemas.microsoft.com/office/drawing/2014/main" xmlns="" id="{39A1AE77-3A31-417B-9625-F3477404B924}"/>
              </a:ext>
            </a:extLst>
          </p:cNvPr>
          <p:cNvSpPr/>
          <p:nvPr/>
        </p:nvSpPr>
        <p:spPr>
          <a:xfrm>
            <a:off x="2453153" y="4541775"/>
            <a:ext cx="1360200" cy="536089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Redes neuronales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5729" name="Google Shape;162;p6">
            <a:extLst>
              <a:ext uri="{FF2B5EF4-FFF2-40B4-BE49-F238E27FC236}">
                <a16:creationId xmlns:a16="http://schemas.microsoft.com/office/drawing/2014/main" xmlns="" id="{0C76789E-23A2-681C-2FB5-1DD7E8A2CB0F}"/>
              </a:ext>
            </a:extLst>
          </p:cNvPr>
          <p:cNvCxnSpPr>
            <a:cxnSpLocks/>
            <a:stCxn id="1048638" idx="3"/>
            <a:endCxn id="1048637" idx="1"/>
          </p:cNvCxnSpPr>
          <p:nvPr/>
        </p:nvCxnSpPr>
        <p:spPr>
          <a:xfrm flipV="1">
            <a:off x="3803992" y="3963218"/>
            <a:ext cx="423126" cy="625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45732" name="Google Shape;162;p6">
            <a:extLst>
              <a:ext uri="{FF2B5EF4-FFF2-40B4-BE49-F238E27FC236}">
                <a16:creationId xmlns:a16="http://schemas.microsoft.com/office/drawing/2014/main" xmlns="" id="{3C67965B-8190-68CB-8405-B84C8E5456DE}"/>
              </a:ext>
            </a:extLst>
          </p:cNvPr>
          <p:cNvCxnSpPr>
            <a:cxnSpLocks/>
            <a:stCxn id="1048632" idx="3"/>
            <a:endCxn id="1048639" idx="1"/>
          </p:cNvCxnSpPr>
          <p:nvPr/>
        </p:nvCxnSpPr>
        <p:spPr>
          <a:xfrm>
            <a:off x="2070800" y="4800082"/>
            <a:ext cx="382353" cy="97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45761" name="Google Shape;154;p6">
            <a:extLst>
              <a:ext uri="{FF2B5EF4-FFF2-40B4-BE49-F238E27FC236}">
                <a16:creationId xmlns:a16="http://schemas.microsoft.com/office/drawing/2014/main" xmlns="" id="{E3B53827-F1C1-8B2B-0A24-AE2409582A50}"/>
              </a:ext>
            </a:extLst>
          </p:cNvPr>
          <p:cNvSpPr/>
          <p:nvPr/>
        </p:nvSpPr>
        <p:spPr>
          <a:xfrm>
            <a:off x="2506127" y="5303977"/>
            <a:ext cx="1681204" cy="74682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Registrar la detección para el análisis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5762" name="Google Shape;154;p6">
            <a:extLst>
              <a:ext uri="{FF2B5EF4-FFF2-40B4-BE49-F238E27FC236}">
                <a16:creationId xmlns:a16="http://schemas.microsoft.com/office/drawing/2014/main" xmlns="" id="{2E5E10C7-8EC2-FB8F-2855-CF888C3BB13D}"/>
              </a:ext>
            </a:extLst>
          </p:cNvPr>
          <p:cNvSpPr/>
          <p:nvPr/>
        </p:nvSpPr>
        <p:spPr>
          <a:xfrm>
            <a:off x="4505436" y="5411174"/>
            <a:ext cx="1360200" cy="536089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Mostrar alerta visual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5791" name="Google Shape;165;p6">
            <a:extLst>
              <a:ext uri="{FF2B5EF4-FFF2-40B4-BE49-F238E27FC236}">
                <a16:creationId xmlns:a16="http://schemas.microsoft.com/office/drawing/2014/main" xmlns="" id="{81F1BBDD-F990-63A4-7963-C57735043C89}"/>
              </a:ext>
            </a:extLst>
          </p:cNvPr>
          <p:cNvCxnSpPr>
            <a:cxnSpLocks/>
            <a:stCxn id="3145761" idx="3"/>
            <a:endCxn id="3145762" idx="1"/>
          </p:cNvCxnSpPr>
          <p:nvPr/>
        </p:nvCxnSpPr>
        <p:spPr>
          <a:xfrm>
            <a:off x="4187331" y="5677387"/>
            <a:ext cx="318105" cy="183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xmlns="" id="{919A7F45-1EED-C1F1-BD35-CB75DFB9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110;p3">
            <a:extLst>
              <a:ext uri="{FF2B5EF4-FFF2-40B4-BE49-F238E27FC236}">
                <a16:creationId xmlns:a16="http://schemas.microsoft.com/office/drawing/2014/main" xmlns="" id="{056F3607-E4ED-FBEE-8456-90D3CC102FB2}"/>
              </a:ext>
            </a:extLst>
          </p:cNvPr>
          <p:cNvSpPr txBox="1"/>
          <p:nvPr/>
        </p:nvSpPr>
        <p:spPr>
          <a:xfrm>
            <a:off x="395536" y="33265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429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5" name="Google Shape;111;p3">
            <a:extLst>
              <a:ext uri="{FF2B5EF4-FFF2-40B4-BE49-F238E27FC236}">
                <a16:creationId xmlns:a16="http://schemas.microsoft.com/office/drawing/2014/main" xmlns="" id="{8DCFB5E1-69FB-B825-E672-3B59BA35CE22}"/>
              </a:ext>
            </a:extLst>
          </p:cNvPr>
          <p:cNvSpPr txBox="1"/>
          <p:nvPr/>
        </p:nvSpPr>
        <p:spPr>
          <a:xfrm>
            <a:off x="1043608" y="1747120"/>
            <a:ext cx="7416900" cy="1371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O" sz="1800" dirty="0">
                <a:latin typeface="Calibri" panose="020F0502020204030204" pitchFamily="34" charset="0"/>
                <a:cs typeface="Calibri" panose="020F0502020204030204" pitchFamily="34" charset="0"/>
              </a:rPr>
              <a:t>El procesamiento digital de imágenes permite</a:t>
            </a:r>
            <a:r>
              <a:rPr lang="es-CO" sz="1800" b="1" dirty="0">
                <a:latin typeface="Calibri" panose="020F0502020204030204" pitchFamily="34" charset="0"/>
                <a:cs typeface="Calibri" panose="020F0502020204030204" pitchFamily="34" charset="0"/>
              </a:rPr>
              <a:t> transformar, analizar y extraer </a:t>
            </a:r>
            <a:r>
              <a:rPr lang="es-CO" sz="1800" dirty="0">
                <a:latin typeface="Calibri" panose="020F0502020204030204" pitchFamily="34" charset="0"/>
                <a:cs typeface="Calibri" panose="020F0502020204030204" pitchFamily="34" charset="0"/>
              </a:rPr>
              <a:t>información útil de imágenes digitales. Se aplicarán los siguientes fundamentos teóricos y matemáticos:</a:t>
            </a:r>
          </a:p>
          <a:p>
            <a:endParaRPr lang="es-C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C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C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C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C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C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C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C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C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C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C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C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C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8" name="Google Shape;116;p3">
            <a:extLst>
              <a:ext uri="{FF2B5EF4-FFF2-40B4-BE49-F238E27FC236}">
                <a16:creationId xmlns:a16="http://schemas.microsoft.com/office/drawing/2014/main" xmlns="" id="{BF898CD6-9C7F-2296-432C-62BA433DDA34}"/>
              </a:ext>
            </a:extLst>
          </p:cNvPr>
          <p:cNvSpPr txBox="1"/>
          <p:nvPr/>
        </p:nvSpPr>
        <p:spPr>
          <a:xfrm>
            <a:off x="2068825" y="6389375"/>
            <a:ext cx="47664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 descr="Imagen que contiene texto, señal&#10;&#10;El contenido generado por IA puede ser incorrecto.">
            <a:extLst>
              <a:ext uri="{FF2B5EF4-FFF2-40B4-BE49-F238E27FC236}">
                <a16:creationId xmlns:a16="http://schemas.microsoft.com/office/drawing/2014/main" xmlns="" id="{857A373B-750F-DBF6-D6BA-C78A7ABEB9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tretch>
            <a:fillRect/>
          </a:stretch>
        </p:blipFill>
        <p:spPr>
          <a:xfrm>
            <a:off x="4838051" y="2883726"/>
            <a:ext cx="1647021" cy="1647021"/>
          </a:xfrm>
          <a:prstGeom prst="rect">
            <a:avLst/>
          </a:prstGeom>
        </p:spPr>
      </p:pic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xmlns="" id="{C97029FB-D129-47FA-8A2D-4858820695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2504318" y="2649210"/>
            <a:ext cx="1947707" cy="1947707"/>
          </a:xfrm>
          <a:prstGeom prst="rect">
            <a:avLst/>
          </a:prstGeom>
        </p:spPr>
      </p:pic>
      <p:pic>
        <p:nvPicPr>
          <p:cNvPr id="8" name="Imagen 7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xmlns="" id="{BED55479-3B11-40EA-5481-850848EEFE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xmlns="" r:id="rId8"/>
              </a:ext>
            </a:extLst>
          </a:blip>
          <a:stretch>
            <a:fillRect/>
          </a:stretch>
        </p:blipFill>
        <p:spPr>
          <a:xfrm>
            <a:off x="805855" y="3094079"/>
            <a:ext cx="1436668" cy="1436668"/>
          </a:xfrm>
          <a:prstGeom prst="rect">
            <a:avLst/>
          </a:prstGeom>
        </p:spPr>
      </p:pic>
      <p:pic>
        <p:nvPicPr>
          <p:cNvPr id="10" name="Imagen 9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xmlns="" id="{F6111FA8-174B-13C9-81CB-C0B6E1721D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xmlns="" r:id="rId10"/>
              </a:ext>
            </a:extLst>
          </a:blip>
          <a:stretch>
            <a:fillRect/>
          </a:stretch>
        </p:blipFill>
        <p:spPr>
          <a:xfrm>
            <a:off x="6865207" y="3133001"/>
            <a:ext cx="1759929" cy="143666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xmlns="" id="{D3E99885-AB7C-7FCB-1C48-B471627C1B09}"/>
              </a:ext>
            </a:extLst>
          </p:cNvPr>
          <p:cNvSpPr txBox="1"/>
          <p:nvPr/>
        </p:nvSpPr>
        <p:spPr>
          <a:xfrm>
            <a:off x="629026" y="4613825"/>
            <a:ext cx="172819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dirty="0">
                <a:latin typeface="Calibri" panose="020F0502020204030204" pitchFamily="34" charset="0"/>
                <a:cs typeface="Calibri" panose="020F0502020204030204" pitchFamily="34" charset="0"/>
              </a:rPr>
              <a:t>Modelos de color (RGB, HSV, CMYK)</a:t>
            </a:r>
          </a:p>
          <a:p>
            <a:endParaRPr lang="es-CO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xmlns="" id="{ECDDD0C0-2F4D-1E21-76DB-5D4B76777F72}"/>
              </a:ext>
            </a:extLst>
          </p:cNvPr>
          <p:cNvSpPr txBox="1"/>
          <p:nvPr/>
        </p:nvSpPr>
        <p:spPr>
          <a:xfrm>
            <a:off x="4838051" y="4604128"/>
            <a:ext cx="17281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dirty="0">
                <a:latin typeface="Calibri" panose="020F0502020204030204" pitchFamily="34" charset="0"/>
                <a:cs typeface="Calibri" panose="020F0502020204030204" pitchFamily="34" charset="0"/>
              </a:rPr>
              <a:t>Histogramas y </a:t>
            </a:r>
            <a:r>
              <a:rPr lang="es-CO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Umbralización</a:t>
            </a:r>
            <a:r>
              <a:rPr lang="es-CO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/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xmlns="" id="{ACCCF46D-6C0B-8935-A10B-8A13859C7949}"/>
              </a:ext>
            </a:extLst>
          </p:cNvPr>
          <p:cNvSpPr txBox="1"/>
          <p:nvPr/>
        </p:nvSpPr>
        <p:spPr>
          <a:xfrm>
            <a:off x="2608277" y="4583639"/>
            <a:ext cx="172819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dirty="0">
                <a:latin typeface="Calibri" panose="020F0502020204030204" pitchFamily="34" charset="0"/>
                <a:cs typeface="Calibri" panose="020F0502020204030204" pitchFamily="34" charset="0"/>
              </a:rPr>
              <a:t>Redes neuronales convolucionales </a:t>
            </a:r>
          </a:p>
          <a:p>
            <a:endParaRPr lang="es-CO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xmlns="" id="{55579BC3-5F60-E0CC-46F2-3B57D111E25C}"/>
              </a:ext>
            </a:extLst>
          </p:cNvPr>
          <p:cNvSpPr txBox="1"/>
          <p:nvPr/>
        </p:nvSpPr>
        <p:spPr>
          <a:xfrm>
            <a:off x="6819007" y="4664611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dirty="0">
                <a:latin typeface="Calibri" panose="020F0502020204030204" pitchFamily="34" charset="0"/>
                <a:cs typeface="Calibri" panose="020F0502020204030204" pitchFamily="34" charset="0"/>
              </a:rPr>
              <a:t>Filtrado espacial</a:t>
            </a:r>
          </a:p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7370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110;p3"/>
          <p:cNvSpPr txBox="1"/>
          <p:nvPr/>
        </p:nvSpPr>
        <p:spPr>
          <a:xfrm>
            <a:off x="395536" y="33265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 Hardware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5" name="Google Shape;111;p3"/>
          <p:cNvSpPr txBox="1"/>
          <p:nvPr/>
        </p:nvSpPr>
        <p:spPr>
          <a:xfrm>
            <a:off x="4329323" y="2301870"/>
            <a:ext cx="3672408" cy="326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>
                <a:latin typeface="Calibri" panose="020F0502020204030204" pitchFamily="34" charset="0"/>
                <a:cs typeface="Calibri" panose="020F0502020204030204" pitchFamily="34" charset="0"/>
              </a:rPr>
              <a:t>Montaje móvil (moto + cámara del celular)</a:t>
            </a:r>
          </a:p>
          <a:p>
            <a:endParaRPr lang="es-E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cs typeface="Calibri" panose="020F0502020204030204" pitchFamily="34" charset="0"/>
              </a:rPr>
              <a:t>Vehículo con cámara de acción (GoPro o similar)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>
                <a:latin typeface="Calibri" panose="020F0502020204030204" pitchFamily="34" charset="0"/>
                <a:cs typeface="Calibri" panose="020F0502020204030204" pitchFamily="34" charset="0"/>
              </a:rPr>
              <a:t>Uso de videos públicos o videojuegos (etapa inicial)</a:t>
            </a:r>
          </a:p>
          <a:p>
            <a:endParaRPr lang="es-CO"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8" name="Google Shape;116;p3"/>
          <p:cNvSpPr txBox="1"/>
          <p:nvPr/>
        </p:nvSpPr>
        <p:spPr>
          <a:xfrm>
            <a:off x="2068825" y="6389375"/>
            <a:ext cx="47664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 descr="Imagen que contiene interior, espejo, tabla, pequeño&#10;&#10;El contenido generado por IA puede ser incorrecto.">
            <a:extLst>
              <a:ext uri="{FF2B5EF4-FFF2-40B4-BE49-F238E27FC236}">
                <a16:creationId xmlns:a16="http://schemas.microsoft.com/office/drawing/2014/main" xmlns="" id="{03380E42-D1BA-3A3A-646C-D6466E23D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tretch>
            <a:fillRect/>
          </a:stretch>
        </p:blipFill>
        <p:spPr>
          <a:xfrm>
            <a:off x="827584" y="4098605"/>
            <a:ext cx="3024336" cy="1809153"/>
          </a:xfrm>
          <a:prstGeom prst="rect">
            <a:avLst/>
          </a:prstGeom>
        </p:spPr>
      </p:pic>
      <p:pic>
        <p:nvPicPr>
          <p:cNvPr id="5" name="Imagen 4" descr="Persona con casco en una moto&#10;&#10;El contenido generado por IA puede ser incorrecto.">
            <a:extLst>
              <a:ext uri="{FF2B5EF4-FFF2-40B4-BE49-F238E27FC236}">
                <a16:creationId xmlns:a16="http://schemas.microsoft.com/office/drawing/2014/main" xmlns="" id="{FAEC01D7-F13C-311E-A12C-51EF25AE55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1142269" y="1704365"/>
            <a:ext cx="2165531" cy="21655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Google Shape;131;p5"/>
          <p:cNvSpPr txBox="1"/>
          <p:nvPr/>
        </p:nvSpPr>
        <p:spPr>
          <a:xfrm>
            <a:off x="395536" y="33265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 Software</a:t>
            </a:r>
            <a:endParaRPr sz="429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434DBEE-A95D-A28C-0C78-C7FC8C62B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977806"/>
            <a:ext cx="784887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captura → preprocesado → detección/localización → clasificación → acción / registro.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Preprocesado: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normalización, reducción de ruido y aumento de datos (rotación, brillo, recorte).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Detección: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modelo de localización en tiempo real para encontrar señales en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Clasificación: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CNN ligera entrenada con </a:t>
            </a:r>
            <a:r>
              <a:rPr kumimoji="0" lang="es-CO" altLang="es-CO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señales de transito de </a:t>
            </a:r>
            <a:r>
              <a:rPr lang="es-CO" altLang="es-CO" sz="1800" dirty="0">
                <a:solidFill>
                  <a:schemeClr val="tx1"/>
                </a:solidFill>
                <a:latin typeface="Arial" panose="020B0604020202020204" pitchFamily="34" charset="0"/>
              </a:rPr>
              <a:t>C</a:t>
            </a:r>
            <a:r>
              <a:rPr kumimoji="0" lang="es-CO" altLang="es-CO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olombia.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Despliegue: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convertir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wsa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Lite /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quantización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ejecución en Android.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precisión,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matriz de confusión y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(para detección).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Objetivo: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latencia &lt; 200 ms por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Tasa de aciertos &gt; 80% en condiciones urbanas.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Google Shape;171;g1e7f6e54539_1_0"/>
          <p:cNvSpPr txBox="1"/>
          <p:nvPr/>
        </p:nvSpPr>
        <p:spPr>
          <a:xfrm>
            <a:off x="395536" y="33265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lo menos un algoritmo funcionando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670F911C-FBB4-2FD7-033E-1194058D8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628800"/>
            <a:ext cx="3600399" cy="273133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C22162A4-8BB4-8560-4715-D7FBFE81C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1732706"/>
            <a:ext cx="4292236" cy="32649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050A4565-9A58-0B26-6A38-B17A2640BC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642" y="3492837"/>
            <a:ext cx="3600400" cy="26840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Google Shape;177;p7"/>
          <p:cNvSpPr txBox="1"/>
          <p:nvPr/>
        </p:nvSpPr>
        <p:spPr>
          <a:xfrm>
            <a:off x="609600" y="2668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de actividades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80D42532-0A22-66D3-69EB-96CB98040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75" y="2469840"/>
            <a:ext cx="8392650" cy="1918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xmlns="" id="{10400D50-C009-FC36-43A6-4B0C3832D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Google Shape;192;p8">
            <a:extLst>
              <a:ext uri="{FF2B5EF4-FFF2-40B4-BE49-F238E27FC236}">
                <a16:creationId xmlns:a16="http://schemas.microsoft.com/office/drawing/2014/main" xmlns="" id="{E2B2C22C-05E8-EE94-BB5D-C95EDF5B5D59}"/>
              </a:ext>
            </a:extLst>
          </p:cNvPr>
          <p:cNvSpPr txBox="1"/>
          <p:nvPr/>
        </p:nvSpPr>
        <p:spPr>
          <a:xfrm>
            <a:off x="609600" y="4270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Líneas futuras</a:t>
            </a:r>
            <a:endParaRPr sz="429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5" name="Google Shape;195;p8">
            <a:extLst>
              <a:ext uri="{FF2B5EF4-FFF2-40B4-BE49-F238E27FC236}">
                <a16:creationId xmlns:a16="http://schemas.microsoft.com/office/drawing/2014/main" xmlns="" id="{3531F744-A9C7-9BE0-E1BD-1B7EAA891672}"/>
              </a:ext>
            </a:extLst>
          </p:cNvPr>
          <p:cNvSpPr txBox="1"/>
          <p:nvPr/>
        </p:nvSpPr>
        <p:spPr>
          <a:xfrm>
            <a:off x="1259632" y="2060848"/>
            <a:ext cx="6624736" cy="396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>
              <a:buClr>
                <a:schemeClr val="dk1"/>
              </a:buClr>
              <a:buSzPts val="1800"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800" dirty="0">
                <a:latin typeface="Calibri" panose="020F0502020204030204" pitchFamily="34" charset="0"/>
                <a:cs typeface="Calibri" panose="020F0502020204030204" pitchFamily="34" charset="0"/>
              </a:rPr>
              <a:t>Se espera obtener un modelo capaz de</a:t>
            </a:r>
            <a:r>
              <a:rPr lang="es-CO" sz="1800" b="1" dirty="0">
                <a:latin typeface="Calibri" panose="020F0502020204030204" pitchFamily="34" charset="0"/>
                <a:cs typeface="Calibri" panose="020F0502020204030204" pitchFamily="34" charset="0"/>
              </a:rPr>
              <a:t> identificar al menos cinco señales </a:t>
            </a:r>
            <a:r>
              <a:rPr lang="es-CO" sz="1800" dirty="0">
                <a:latin typeface="Calibri" panose="020F0502020204030204" pitchFamily="34" charset="0"/>
                <a:cs typeface="Calibri" panose="020F0502020204030204" pitchFamily="34" charset="0"/>
              </a:rPr>
              <a:t>de tránsito distintas con una precisión superior al 80%.</a:t>
            </a:r>
          </a:p>
          <a:p>
            <a:endParaRPr lang="es-E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latin typeface="Calibri" panose="020F0502020204030204" pitchFamily="34" charset="0"/>
                <a:cs typeface="Calibri" panose="020F0502020204030204" pitchFamily="34" charset="0"/>
              </a:rPr>
              <a:t>Se busca generar una interfaz visual que muestre la </a:t>
            </a:r>
            <a:r>
              <a:rPr lang="es-ES" sz="1800" b="1" dirty="0">
                <a:latin typeface="Calibri" panose="020F0502020204030204" pitchFamily="34" charset="0"/>
                <a:cs typeface="Calibri" panose="020F0502020204030204" pitchFamily="34" charset="0"/>
              </a:rPr>
              <a:t>detección en tiempo real</a:t>
            </a:r>
            <a:r>
              <a:rPr lang="es-ES" sz="1800" dirty="0">
                <a:latin typeface="Calibri" panose="020F0502020204030204" pitchFamily="34" charset="0"/>
                <a:cs typeface="Calibri" panose="020F0502020204030204" pitchFamily="34" charset="0"/>
              </a:rPr>
              <a:t> sobre el video procesado.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latin typeface="Calibri" panose="020F0502020204030204" pitchFamily="34" charset="0"/>
                <a:cs typeface="Calibri" panose="020F0502020204030204" pitchFamily="34" charset="0"/>
              </a:rPr>
              <a:t>Hacer el entrenamiento de CNN o YOLO, ajuste de </a:t>
            </a:r>
            <a:r>
              <a:rPr lang="es-E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hiperparámetros</a:t>
            </a:r>
            <a:r>
              <a:rPr lang="es-ES" sz="1800" dirty="0">
                <a:latin typeface="Calibri" panose="020F0502020204030204" pitchFamily="34" charset="0"/>
                <a:cs typeface="Calibri" panose="020F0502020204030204" pitchFamily="34" charset="0"/>
              </a:rPr>
              <a:t>, evaluación de precisión.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800" dirty="0">
                <a:latin typeface="Calibri" panose="020F0502020204030204" pitchFamily="34" charset="0"/>
                <a:cs typeface="Calibri" panose="020F0502020204030204" pitchFamily="34" charset="0"/>
              </a:rPr>
              <a:t>Pruebas en diferentes condiciones, primero controladas para verificar utilidad</a:t>
            </a:r>
            <a:endParaRPr lang="es-ES" sz="1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9708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202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Bibliografía y webgrafía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xmlns="" id="{02C95432-3C56-5C45-C12E-FCACB05B8A08}"/>
              </a:ext>
            </a:extLst>
          </p:cNvPr>
          <p:cNvSpPr txBox="1"/>
          <p:nvPr/>
        </p:nvSpPr>
        <p:spPr>
          <a:xfrm>
            <a:off x="791580" y="1628800"/>
            <a:ext cx="75608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latin typeface="Calibri" panose="020F0502020204030204" pitchFamily="34" charset="0"/>
                <a:cs typeface="Calibri" panose="020F0502020204030204" pitchFamily="34" charset="0"/>
              </a:rPr>
              <a:t>Martínez et al. (2020)</a:t>
            </a: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Reconocimiento de señales de tránsito colombianas mediante redes convolucionales profundas.						</a:t>
            </a: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Trabajo nacional que adaptó modelos de </a:t>
            </a:r>
            <a:r>
              <a:rPr lang="es-E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deep</a:t>
            </a: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 (CNN) al contexto colombiano, resaltando los desafíos de iluminación, deterioro de señalización y variabilidad en el diseño local.</a:t>
            </a:r>
          </a:p>
          <a:p>
            <a:endParaRPr lang="es-E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latin typeface="Calibri" panose="020F0502020204030204" pitchFamily="34" charset="0"/>
                <a:cs typeface="Calibri" panose="020F0502020204030204" pitchFamily="34" charset="0"/>
              </a:rPr>
              <a:t>Larsson &amp; </a:t>
            </a:r>
            <a:r>
              <a:rPr lang="es-E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Felsberg</a:t>
            </a:r>
            <a:r>
              <a:rPr lang="es-E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(2011)</a:t>
            </a: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s-E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Using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Descriptors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Traffic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Sign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Recognition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.            		</a:t>
            </a: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Propusieron un enfoque basado en descriptores SIFT y HOG para detección y clasificación de señales, logrando alta precisión en condiciones controladas. </a:t>
            </a:r>
          </a:p>
          <a:p>
            <a:endParaRPr lang="es-E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Stallkamp</a:t>
            </a:r>
            <a:r>
              <a:rPr lang="es-E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et al. (2012)</a:t>
            </a: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s-E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German </a:t>
            </a:r>
            <a:r>
              <a:rPr lang="es-E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Traffic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Sign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Recognition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Benchmark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: A </a:t>
            </a:r>
            <a:r>
              <a:rPr lang="es-E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multi-class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classification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competition</a:t>
            </a:r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.						</a:t>
            </a: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Desarrollaron la base de datos GTSRB, utilizada globalmente como referencia para el reconocimiento de señales con técnicas de visión por computador y redes neuronales.</a:t>
            </a:r>
            <a:endParaRPr lang="es-CO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Google Shape;211;p10"/>
          <p:cNvSpPr txBox="1">
            <a:spLocks noGrp="1"/>
          </p:cNvSpPr>
          <p:nvPr>
            <p:ph type="body" idx="1"/>
          </p:nvPr>
        </p:nvSpPr>
        <p:spPr>
          <a:xfrm>
            <a:off x="2411760" y="3068960"/>
            <a:ext cx="4680520" cy="237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CO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del público?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CO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474</Words>
  <Application>Microsoft Office PowerPoint</Application>
  <PresentationFormat>Presentación en pantalla (4:3)</PresentationFormat>
  <Paragraphs>98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Noto Sans Symbols</vt:lpstr>
      <vt:lpstr>Tema de Office</vt:lpstr>
      <vt:lpstr>Detección y Clasificación de Señales de Tránsito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Bibliografía y webgrafía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y Clasificación de Señales de Tránsito</dc:title>
  <dc:creator>RMX3710</dc:creator>
  <cp:lastModifiedBy>Cuenta Microsoft</cp:lastModifiedBy>
  <cp:revision>8</cp:revision>
  <dcterms:created xsi:type="dcterms:W3CDTF">2025-11-10T04:36:48Z</dcterms:created>
  <dcterms:modified xsi:type="dcterms:W3CDTF">2025-11-11T14:48:03Z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a0aa604abc2243b5af322c10ca0cf65d</vt:lpwstr>
  </property>
</Properties>
</file>